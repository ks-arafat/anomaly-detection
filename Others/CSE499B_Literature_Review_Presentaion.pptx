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 Bold" panose="00000800000000000000" pitchFamily="2" charset="0"/>
      <p:bold r:id="rId13"/>
    </p:embeddedFont>
    <p:embeddedFont>
      <p:font typeface="Montserrat" panose="00000500000000000000" pitchFamily="2" charset="0"/>
      <p:regular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C4E"/>
    <a:srgbClr val="58A4D8"/>
    <a:srgbClr val="D4E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86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Sajid | Safin | Mow | Ridoy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8.svg"/><Relationship Id="rId4" Type="http://schemas.openxmlformats.org/officeDocument/2006/relationships/image" Target="../media/image8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45/3122009.3122021" TargetMode="External"/><Relationship Id="rId13" Type="http://schemas.openxmlformats.org/officeDocument/2006/relationships/hyperlink" Target="https://doi.org/10.1145/1102351.1102450" TargetMode="External"/><Relationship Id="rId3" Type="http://schemas.openxmlformats.org/officeDocument/2006/relationships/image" Target="../media/image21.png"/><Relationship Id="rId7" Type="http://schemas.openxmlformats.org/officeDocument/2006/relationships/hyperlink" Target="https://doi.org/10.5731/088038412X570488" TargetMode="External"/><Relationship Id="rId12" Type="http://schemas.openxmlformats.org/officeDocument/2006/relationships/hyperlink" Target="https://doi.org/10.48550/arXiv.1906.02530" TargetMode="External"/><Relationship Id="rId17" Type="http://schemas.openxmlformats.org/officeDocument/2006/relationships/hyperlink" Target="https://doi.org/10.1038/s41598-025-80023-6" TargetMode="External"/><Relationship Id="rId2" Type="http://schemas.openxmlformats.org/officeDocument/2006/relationships/notesSlide" Target="../notesSlides/notesSlide9.xml"/><Relationship Id="rId16" Type="http://schemas.openxmlformats.org/officeDocument/2006/relationships/hyperlink" Target="https://doi.org/10.3390/electronics14193952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doi.org/10.1371/journal.pone.0308469" TargetMode="External"/><Relationship Id="rId11" Type="http://schemas.openxmlformats.org/officeDocument/2006/relationships/hyperlink" Target="https://doi.org/10.48550/arXiv.1706.04599" TargetMode="External"/><Relationship Id="rId5" Type="http://schemas.openxmlformats.org/officeDocument/2006/relationships/hyperlink" Target="https://doi.org/10.3389/frai.2026.1746661" TargetMode="External"/><Relationship Id="rId15" Type="http://schemas.openxmlformats.org/officeDocument/2006/relationships/hyperlink" Target="https://doi.org/10.1371/journal.pone.0340997" TargetMode="External"/><Relationship Id="rId10" Type="http://schemas.openxmlformats.org/officeDocument/2006/relationships/hyperlink" Target="https://www.scitepress.org/" TargetMode="External"/><Relationship Id="rId4" Type="http://schemas.openxmlformats.org/officeDocument/2006/relationships/hyperlink" Target="https://doi.org/10.3390/safety11040120" TargetMode="External"/><Relationship Id="rId9" Type="http://schemas.openxmlformats.org/officeDocument/2006/relationships/hyperlink" Target="https://www.techscience.com/jcs" TargetMode="External"/><Relationship Id="rId14" Type="http://schemas.openxmlformats.org/officeDocument/2006/relationships/hyperlink" Target="https://www.microsoft.com/en-us/research/publication/probabilistic-outputs-for-support-vector-machine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90813"/>
            <a:ext cx="13113782" cy="1069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Shift-Aware Reliability Enhancement for Machine Learning-Based NIDS Under Cross-Dataset Distribution Shift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58309" y="1908691"/>
            <a:ext cx="4541996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CSE499B – Senior Design II | Spring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8309" y="2412087"/>
            <a:ext cx="13113782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 of Electrical &amp; Computer Engineering | North South University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309" y="2776657"/>
            <a:ext cx="13113782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-15 – Group  -0 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309" y="3222451"/>
            <a:ext cx="13113782" cy="27861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58309" y="3433048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 Members</a:t>
            </a:r>
            <a:endParaRPr lang="en-US" sz="2650" dirty="0"/>
          </a:p>
        </p:txBody>
      </p:sp>
      <p:sp>
        <p:nvSpPr>
          <p:cNvPr id="8" name="Shape 6"/>
          <p:cNvSpPr/>
          <p:nvPr/>
        </p:nvSpPr>
        <p:spPr>
          <a:xfrm>
            <a:off x="758309" y="4043363"/>
            <a:ext cx="13113782" cy="1571149"/>
          </a:xfrm>
          <a:prstGeom prst="roundRect">
            <a:avLst>
              <a:gd name="adj" fmla="val 1551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5929" y="4050983"/>
            <a:ext cx="13098542" cy="3889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rgbClr val="58A4D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28449" y="4131707"/>
            <a:ext cx="6989445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 Sajid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50317" y="4131707"/>
            <a:ext cx="545175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2211954042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5929" y="4439960"/>
            <a:ext cx="13098542" cy="388977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rgbClr val="2E3C4E"/>
            </a:solidFill>
          </a:ln>
        </p:spPr>
      </p:sp>
      <p:sp>
        <p:nvSpPr>
          <p:cNvPr id="16" name="Text 14"/>
          <p:cNvSpPr/>
          <p:nvPr/>
        </p:nvSpPr>
        <p:spPr>
          <a:xfrm>
            <a:off x="928449" y="4520684"/>
            <a:ext cx="6989445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Kazi Safin Arafat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50317" y="4520684"/>
            <a:ext cx="545175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2211778642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5929" y="4828937"/>
            <a:ext cx="13098542" cy="3889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28449" y="4909661"/>
            <a:ext cx="6989445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Moushumi Akter Mow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50317" y="4909661"/>
            <a:ext cx="545175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2021983642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5929" y="5217914"/>
            <a:ext cx="13098542" cy="388977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rgbClr val="2E3C4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8449" y="5298638"/>
            <a:ext cx="6989445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Rakibul Hasan Ridoy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50317" y="5298638"/>
            <a:ext cx="545175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1731339042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58309" y="5832777"/>
            <a:ext cx="13113782" cy="27861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58309" y="6043374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Faculty Advisor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58309" y="6493431"/>
            <a:ext cx="13113782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Md. Mohammad Shifat-E-Rabbi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6201" y="1002287"/>
            <a:ext cx="779799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Overview &amp; Framework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4278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Focus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10896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 reliability and calibration of ML-based NIDS under cross-dataset deployment scenarios.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91596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4488775"/>
            <a:ext cx="8066008" cy="203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Cross-dataset evaluation: Train on Dataset A → Test on Dataset B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Calibration metrics: ECE and Brier Score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Post-hoc calibration: Temperature Scaling and Isotonic Regression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Entropy-based UNKNOWN decision mechanism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Selective accuracy and coverage evaluation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60575" y="391596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60575" y="4488775"/>
            <a:ext cx="451901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 predicted confidence scores reflect real-world correctness probability under distribution shift.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3976092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10" name="Shape 30">
            <a:extLst>
              <a:ext uri="{FF2B5EF4-FFF2-40B4-BE49-F238E27FC236}">
                <a16:creationId xmlns:a16="http://schemas.microsoft.com/office/drawing/2014/main" id="{3707CB7C-7BD5-702B-1C92-3AEA568DBBDB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5214" y="1114086"/>
            <a:ext cx="111694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Review: Calibration &amp; Uncertainty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228271" y="2077958"/>
            <a:ext cx="414337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58A4D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Khondokar Sajid's Research Area</a:t>
            </a:r>
            <a:endParaRPr lang="en-US" sz="2200" dirty="0">
              <a:solidFill>
                <a:srgbClr val="58A4D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299960" y="2863929"/>
            <a:ext cx="30480" cy="3982164"/>
          </a:xfrm>
          <a:prstGeom prst="roundRect">
            <a:avLst>
              <a:gd name="adj" fmla="val 1066251"/>
            </a:avLst>
          </a:prstGeom>
          <a:solidFill>
            <a:srgbClr val="CBDCE5"/>
          </a:solidFill>
          <a:ln/>
        </p:spPr>
      </p:sp>
      <p:sp>
        <p:nvSpPr>
          <p:cNvPr id="5" name="Shape 3"/>
          <p:cNvSpPr/>
          <p:nvPr/>
        </p:nvSpPr>
        <p:spPr>
          <a:xfrm>
            <a:off x="6451997" y="3092410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CBDCE5"/>
          </a:solidFill>
          <a:ln/>
        </p:spPr>
      </p:sp>
      <p:sp>
        <p:nvSpPr>
          <p:cNvPr id="6" name="Shape 4"/>
          <p:cNvSpPr/>
          <p:nvPr/>
        </p:nvSpPr>
        <p:spPr>
          <a:xfrm>
            <a:off x="7071479" y="286392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E5F6FF"/>
          </a:solidFill>
          <a:ln w="7620">
            <a:solidFill>
              <a:srgbClr val="CBDC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4167" y="2936617"/>
            <a:ext cx="342067" cy="342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0972" y="2938343"/>
            <a:ext cx="322099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Nascimento &amp; Hou (2025)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309" y="3424476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Uncertainty-Aware Adaptive Intrusion Detection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3901083"/>
            <a:ext cx="5473660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CNN–LSTM + conditional GAN(Generative Adversarial Network) and entropy based abstention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ECE &amp; Brier Score metrics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Entropy-based abstention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 accuracy with calibrated outputs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28441" y="4392216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CBDCE5"/>
          </a:solidFill>
          <a:ln/>
        </p:spPr>
      </p:sp>
      <p:sp>
        <p:nvSpPr>
          <p:cNvPr id="12" name="Shape 9"/>
          <p:cNvSpPr/>
          <p:nvPr/>
        </p:nvSpPr>
        <p:spPr>
          <a:xfrm>
            <a:off x="7071479" y="4163735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E5F6FF"/>
          </a:solidFill>
          <a:ln w="7620">
            <a:solidFill>
              <a:srgbClr val="CBDCE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4167" y="4236422"/>
            <a:ext cx="342067" cy="342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8431" y="423814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Saidi (2026)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98431" y="4724281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NIDS-β: Explainable LLM Framework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98431" y="5200888"/>
            <a:ext cx="5473660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an explainable IDS using Transformer based embeddings + statistical features + SHAP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98.6% accuracy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Very low ECE (~1.9%)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8309" y="3976092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20" name="Shape 30">
            <a:extLst>
              <a:ext uri="{FF2B5EF4-FFF2-40B4-BE49-F238E27FC236}">
                <a16:creationId xmlns:a16="http://schemas.microsoft.com/office/drawing/2014/main" id="{3408B4E6-F2A3-E4FC-568B-920E7E4DB1A5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3605" y="918943"/>
            <a:ext cx="1025271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Review: Zero-Day &amp; Reliability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452401" y="1831497"/>
            <a:ext cx="569511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58A4D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Khondokar Sajid's Research Area (Continued)</a:t>
            </a:r>
            <a:endParaRPr lang="en-US" sz="2200" dirty="0">
              <a:solidFill>
                <a:srgbClr val="58A4D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299960" y="2741057"/>
            <a:ext cx="30480" cy="4227909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6451997" y="2969538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7071479" y="274105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4167" y="2813745"/>
            <a:ext cx="342067" cy="342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76788" y="2815471"/>
            <a:ext cx="335518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Zero-Day Hybrid ML (2023)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309" y="3301603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Autoencoder + RF/XGBoost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3778210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detection performance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Suggests Platt &amp; isotonic scaling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28441" y="4269343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2" name="Shape 9"/>
          <p:cNvSpPr/>
          <p:nvPr/>
        </p:nvSpPr>
        <p:spPr>
          <a:xfrm>
            <a:off x="7071479" y="404086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4167" y="4113550"/>
            <a:ext cx="342067" cy="342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8431" y="411527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Zhang et al. (2023)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98431" y="4601408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Evaluating ML IDS Reliability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98431" y="5078016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ensemble models like Random Forest </a:t>
            </a: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ofter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produce overconfident outputs. 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Highlighting the need for Recalibration. Emphasizes reliability beyond accuracy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451997" y="5389721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8" name="Shape 14"/>
          <p:cNvSpPr/>
          <p:nvPr/>
        </p:nvSpPr>
        <p:spPr>
          <a:xfrm>
            <a:off x="7071479" y="5161240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4167" y="5233928"/>
            <a:ext cx="342067" cy="34206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006685" y="5235654"/>
            <a:ext cx="322528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Geifman &amp; El-Yaniv (2017)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58309" y="5721787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Selective Prediction in DNN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758309" y="6198394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Theoretical foundation of abstention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Basis for UNKNOWN class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58309" y="3976092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24" name="Shape 30">
            <a:extLst>
              <a:ext uri="{FF2B5EF4-FFF2-40B4-BE49-F238E27FC236}">
                <a16:creationId xmlns:a16="http://schemas.microsoft.com/office/drawing/2014/main" id="{8FE1023B-C537-FAF3-A347-79BD78AF1AAA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3009" y="999821"/>
            <a:ext cx="1121390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Review: Cross-Dataset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230534" y="1914216"/>
            <a:ext cx="419981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58A4D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Kazi Safin Arafat's Research Area</a:t>
            </a:r>
            <a:endParaRPr lang="en-US" sz="2200" dirty="0">
              <a:solidFill>
                <a:srgbClr val="58A4D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299960" y="3180398"/>
            <a:ext cx="30480" cy="3349228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6451997" y="3408878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7071479" y="318039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4167" y="3253085"/>
            <a:ext cx="342067" cy="342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81256" y="32548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Xin &amp; Xu (2025)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309" y="3740944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Cross-Dataset Transformer IDS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4217551"/>
            <a:ext cx="5473660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Trained on one dataset, tested on others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Improves cross-domain AUC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Includes calibration module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28441" y="4708684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2" name="Shape 9"/>
          <p:cNvSpPr/>
          <p:nvPr/>
        </p:nvSpPr>
        <p:spPr>
          <a:xfrm>
            <a:off x="7071479" y="448020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4167" y="4552890"/>
            <a:ext cx="342067" cy="342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8431" y="455461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Talpini et al. (2025)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98431" y="5040749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Federated Calibration of IDS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98431" y="5517356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Applies Platt scaling in distributed IoT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Improves probability reliability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8309" y="3976092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18" name="Shape 30">
            <a:extLst>
              <a:ext uri="{FF2B5EF4-FFF2-40B4-BE49-F238E27FC236}">
                <a16:creationId xmlns:a16="http://schemas.microsoft.com/office/drawing/2014/main" id="{23532422-7A7D-81B1-3CD8-CAF32422C5CA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539" y="567214"/>
            <a:ext cx="1078980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Review: Calibration Foundations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1499592"/>
            <a:ext cx="575155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58A4D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                                                        Kazi Safin Arafat's Research Area (Continued)</a:t>
            </a:r>
            <a:endParaRPr lang="en-US" sz="2200" dirty="0">
              <a:solidFill>
                <a:srgbClr val="58A4D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299960" y="2180749"/>
            <a:ext cx="30480" cy="5348407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6451997" y="2409230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7071479" y="218074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4167" y="2253436"/>
            <a:ext cx="342067" cy="342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81256" y="225516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Guo et al. (2017)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309" y="2741295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Calibration of Modern Neural Networks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3217902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networks are overconfident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Introduced Temperature Scaling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28441" y="3709035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2" name="Shape 9"/>
          <p:cNvSpPr/>
          <p:nvPr/>
        </p:nvSpPr>
        <p:spPr>
          <a:xfrm>
            <a:off x="7071479" y="3480554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4167" y="3553242"/>
            <a:ext cx="342067" cy="342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8431" y="355496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Ovadia et al. (2019)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98431" y="4041100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Uncertainty Under Dataset Shift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98431" y="4517708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Calibration degrades under shift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451997" y="4829413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8" name="Shape 14"/>
          <p:cNvSpPr/>
          <p:nvPr/>
        </p:nvSpPr>
        <p:spPr>
          <a:xfrm>
            <a:off x="7071479" y="460093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4167" y="4673620"/>
            <a:ext cx="342067" cy="34206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67878" y="4675346"/>
            <a:ext cx="41640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Niculescu-Mizil &amp; Caruana (2005)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58309" y="5161478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Validates isotonic regression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7528441" y="5949910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23" name="Shape 18"/>
          <p:cNvSpPr/>
          <p:nvPr/>
        </p:nvSpPr>
        <p:spPr>
          <a:xfrm>
            <a:off x="7071479" y="572142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44167" y="5794117"/>
            <a:ext cx="342067" cy="3420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98431" y="57958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Platt (1999)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8398431" y="6281976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Introduced Platt scaling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58309" y="3976092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28" name="Shape 30">
            <a:extLst>
              <a:ext uri="{FF2B5EF4-FFF2-40B4-BE49-F238E27FC236}">
                <a16:creationId xmlns:a16="http://schemas.microsoft.com/office/drawing/2014/main" id="{ADCA55BA-775A-25AF-3500-6CDE8AA60F5A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4169" y="952698"/>
            <a:ext cx="1075158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Review: Graph-Based &amp; LLM IDS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037993"/>
            <a:ext cx="477785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58A4D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                                                                   Moushumi Akter Mow's Research Area       </a:t>
            </a:r>
            <a:endParaRPr lang="en-US" sz="2200" dirty="0">
              <a:solidFill>
                <a:srgbClr val="58A4D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299960" y="2719149"/>
            <a:ext cx="30480" cy="310741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6451997" y="2947630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7071479" y="271914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4167" y="2791837"/>
            <a:ext cx="342067" cy="342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81256" y="279356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Botchway et al. (2026)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309" y="3279696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GCN + Transformer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3756303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96.9% accuracy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calibration evaluation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28441" y="4247436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2" name="Shape 9"/>
          <p:cNvSpPr/>
          <p:nvPr/>
        </p:nvSpPr>
        <p:spPr>
          <a:xfrm>
            <a:off x="7071479" y="4018955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4167" y="4091642"/>
            <a:ext cx="342067" cy="342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8431" y="409336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Dong et al. (2023)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98431" y="4579501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Graph + LLM IDS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98431" y="5056108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Explicit calibration evaluation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Very low ECE (~0.03)</a:t>
            </a:r>
            <a:endParaRPr lang="en-US" sz="1700" dirty="0"/>
          </a:p>
        </p:txBody>
      </p:sp>
      <p:sp>
        <p:nvSpPr>
          <p:cNvPr id="19" name="Shape 30">
            <a:extLst>
              <a:ext uri="{FF2B5EF4-FFF2-40B4-BE49-F238E27FC236}">
                <a16:creationId xmlns:a16="http://schemas.microsoft.com/office/drawing/2014/main" id="{83DF8BE6-42AA-A27B-FA30-C418F4409188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5286" y="939065"/>
            <a:ext cx="1103030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Review: Robustness &amp; Imbalance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037993"/>
            <a:ext cx="462164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58A4D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                                                                   Rakibul Hasan Ridoy's Research Area</a:t>
            </a:r>
            <a:endParaRPr lang="en-US" sz="2200" dirty="0">
              <a:solidFill>
                <a:srgbClr val="58A4D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299960" y="2719149"/>
            <a:ext cx="30480" cy="310741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6451997" y="2947630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6" name="Shape 4"/>
          <p:cNvSpPr/>
          <p:nvPr/>
        </p:nvSpPr>
        <p:spPr>
          <a:xfrm>
            <a:off x="7071479" y="271914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4167" y="2791837"/>
            <a:ext cx="342067" cy="342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11128" y="2793563"/>
            <a:ext cx="292084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Appiahene et al. (2026)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309" y="3279696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Graph-CNN + Transformer IDS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3756303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detection performance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reliability metrics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28441" y="4247436"/>
            <a:ext cx="64996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2" name="Shape 9"/>
          <p:cNvSpPr/>
          <p:nvPr/>
        </p:nvSpPr>
        <p:spPr>
          <a:xfrm>
            <a:off x="7071479" y="4018955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4167" y="4091642"/>
            <a:ext cx="342067" cy="342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8431" y="409336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Nasir et al. (2025)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98431" y="4579501"/>
            <a:ext cx="54736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Attention LSTM Ensemble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98431" y="5056108"/>
            <a:ext cx="5473660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Underconfidence on minority class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Suggests Platt &amp; isotonic calibration</a:t>
            </a:r>
            <a:endParaRPr lang="en-US" sz="1700" dirty="0"/>
          </a:p>
        </p:txBody>
      </p:sp>
      <p:sp>
        <p:nvSpPr>
          <p:cNvPr id="19" name="Shape 30">
            <a:extLst>
              <a:ext uri="{FF2B5EF4-FFF2-40B4-BE49-F238E27FC236}">
                <a16:creationId xmlns:a16="http://schemas.microsoft.com/office/drawing/2014/main" id="{3608B93F-46B4-E5A6-D3C9-3298F40B2E3C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404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5909" y="820579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References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4415909" y="1446014"/>
            <a:ext cx="363390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Complete Literature List (15 Papers)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415909" y="1939052"/>
            <a:ext cx="9456182" cy="467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https://doi.org/10.3390/safety11040120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https://doi.org/10.3389/frai.2026.1746661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https://doi.org/10.1371/journal.pone.0308469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https://doi.org/10.5731/088038412X570488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https://doi.org/10.1145/3122009.3122021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https://www.techscience.com/jcs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https://www.scitepress.org/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https://doi.org/10.48550/arXiv.1706.04599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https://doi.org/10.48550/arXiv.1906.02530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https://doi.org/10.1145/1102351.1102450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https://www.microsoft.com/en-us/research/publication/probabilistic-outputs-for-support-vector-machines/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https://doi.org/10.1371/journal.pone.0340997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https://doi.org/10.3390/electronics14193952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https://doi.org/10.1371/journal.pone.0340997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https://doi.org/10.1038/s41598-025-80023-6</a:t>
            </a:r>
            <a:endParaRPr lang="en-US" sz="1350" dirty="0"/>
          </a:p>
        </p:txBody>
      </p:sp>
      <p:sp>
        <p:nvSpPr>
          <p:cNvPr id="8" name="Shape 30">
            <a:extLst>
              <a:ext uri="{FF2B5EF4-FFF2-40B4-BE49-F238E27FC236}">
                <a16:creationId xmlns:a16="http://schemas.microsoft.com/office/drawing/2014/main" id="{7341CADF-F641-78BF-542C-DD4F04721AD2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484120"/>
            <a:ext cx="11403211" cy="142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00"/>
              </a:lnSpc>
              <a:buNone/>
            </a:pPr>
            <a:r>
              <a:rPr lang="en-US" sz="89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    Thank You</a:t>
            </a:r>
            <a:endParaRPr lang="en-US" sz="8950" dirty="0"/>
          </a:p>
        </p:txBody>
      </p:sp>
      <p:sp>
        <p:nvSpPr>
          <p:cNvPr id="4" name="Text 1"/>
          <p:cNvSpPr/>
          <p:nvPr/>
        </p:nvSpPr>
        <p:spPr>
          <a:xfrm>
            <a:off x="758309" y="423445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74884" y="5095518"/>
            <a:ext cx="126806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Shape 30">
            <a:extLst>
              <a:ext uri="{FF2B5EF4-FFF2-40B4-BE49-F238E27FC236}">
                <a16:creationId xmlns:a16="http://schemas.microsoft.com/office/drawing/2014/main" id="{5E98B6BC-36A7-6A18-7D33-D41303212186}"/>
              </a:ext>
            </a:extLst>
          </p:cNvPr>
          <p:cNvSpPr/>
          <p:nvPr/>
        </p:nvSpPr>
        <p:spPr>
          <a:xfrm>
            <a:off x="0" y="7754027"/>
            <a:ext cx="14630400" cy="475573"/>
          </a:xfrm>
          <a:prstGeom prst="roundRect">
            <a:avLst>
              <a:gd name="adj" fmla="val 41968"/>
            </a:avLst>
          </a:prstGeom>
          <a:solidFill>
            <a:srgbClr val="2E3C4E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      </a:t>
            </a:r>
            <a:r>
              <a:rPr lang="en-US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Khondokar</a:t>
            </a:r>
            <a:r>
              <a:rPr lang="en-US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Sajid  |  Kazi Safin Arafat  |  Moushumi Akter Mow  |  Rakibul Hasan Ridoy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837</Words>
  <Application>Microsoft Office PowerPoint</Application>
  <PresentationFormat>Custom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KHONDOKAR SAJID</cp:lastModifiedBy>
  <cp:revision>3</cp:revision>
  <dcterms:created xsi:type="dcterms:W3CDTF">2026-03-03T17:39:52Z</dcterms:created>
  <dcterms:modified xsi:type="dcterms:W3CDTF">2026-03-03T21:28:12Z</dcterms:modified>
</cp:coreProperties>
</file>