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Noto Sans TC" panose="020B0604020202020204" charset="-128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Sora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90" y="11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928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02318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Machine Learning Approach to Network Intrusion Detection for IoT Devices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341846"/>
            <a:ext cx="44247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CSE 499A — Section 15 — Group 02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94966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Team Members: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280190" y="449044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Kazi Safin Arafat (2211778642)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80190" y="487739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Khondokar Sajid (2211954042)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264348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Moushumi Akter Mow (2021983642)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80190" y="5651302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Rakibul Hasan Ridoy (1731339042)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280190" y="6192083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Instructor: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Md. Mohammad Shifat-E-Rabbi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North South University</a:t>
            </a:r>
            <a:endParaRPr lang="en-US" sz="15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062BD-0D3B-4D12-BBEF-6E95456FEEC7}"/>
              </a:ext>
            </a:extLst>
          </p:cNvPr>
          <p:cNvSpPr/>
          <p:nvPr/>
        </p:nvSpPr>
        <p:spPr>
          <a:xfrm>
            <a:off x="12471400" y="7493000"/>
            <a:ext cx="2159000" cy="736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875" y="636270"/>
            <a:ext cx="9547146" cy="5599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Wake-Up Call: The Mirai Botnet Incident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6875" y="1554599"/>
            <a:ext cx="13196649" cy="860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Mirai malware attack in 2016 remains a stark reminder of IoT vulnerabilities. This sophisticated botnet hijacked thousands of insecure IoT devices, transforming them into a formidable attack force. These compromised devices then launched massive Distributed Denial of Service (DDoS) attacks, crippling major internet services like Twitter, Netflix, and GitHub.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6875" y="2683431"/>
            <a:ext cx="8015883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Why This Matters: The Critical Need for Anomaly Detection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51178" y="3288149"/>
            <a:ext cx="22860" cy="4305062"/>
          </a:xfrm>
          <a:prstGeom prst="roundRect">
            <a:avLst>
              <a:gd name="adj" fmla="val 117601"/>
            </a:avLst>
          </a:prstGeom>
          <a:solidFill>
            <a:srgbClr val="3F3F44"/>
          </a:solidFill>
          <a:ln/>
        </p:spPr>
      </p:sp>
      <p:sp>
        <p:nvSpPr>
          <p:cNvPr id="6" name="Shape 4"/>
          <p:cNvSpPr/>
          <p:nvPr/>
        </p:nvSpPr>
        <p:spPr>
          <a:xfrm>
            <a:off x="828318" y="3478292"/>
            <a:ext cx="358378" cy="22860"/>
          </a:xfrm>
          <a:prstGeom prst="roundRect">
            <a:avLst>
              <a:gd name="adj" fmla="val 117601"/>
            </a:avLst>
          </a:prstGeom>
          <a:solidFill>
            <a:srgbClr val="3F3F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7" y="3422571"/>
            <a:ext cx="134303" cy="1343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68172" y="3349704"/>
            <a:ext cx="224028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IoT Vulnerability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568172" y="3737253"/>
            <a:ext cx="123453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devices are inherently vulnerable and easy to compromise due to often weak security protocols and default credentials.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8318" y="4572476"/>
            <a:ext cx="358378" cy="22860"/>
          </a:xfrm>
          <a:prstGeom prst="roundRect">
            <a:avLst>
              <a:gd name="adj" fmla="val 117601"/>
            </a:avLst>
          </a:prstGeom>
          <a:solidFill>
            <a:srgbClr val="3F3F44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7" y="4516755"/>
            <a:ext cx="134303" cy="1343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68172" y="4443889"/>
            <a:ext cx="2240280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Targeted Attacks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1568172" y="4831437"/>
            <a:ext cx="123453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Attackers actively seek out these unmonitored devices, leveraging them for large-scale cyber operations without immediate detection.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8318" y="5666661"/>
            <a:ext cx="358378" cy="22860"/>
          </a:xfrm>
          <a:prstGeom prst="roundRect">
            <a:avLst>
              <a:gd name="adj" fmla="val 117601"/>
            </a:avLst>
          </a:prstGeom>
          <a:solidFill>
            <a:srgbClr val="3F3F44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7" y="5610939"/>
            <a:ext cx="134303" cy="1343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68172" y="5538073"/>
            <a:ext cx="2451973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Early Detection is Key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1568172" y="5925622"/>
            <a:ext cx="12345353" cy="286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system focuses on early anomaly detection, identifying unusual behaviour before it escalates into a full-blown cyberattack.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828318" y="6760845"/>
            <a:ext cx="358378" cy="22860"/>
          </a:xfrm>
          <a:prstGeom prst="roundRect">
            <a:avLst>
              <a:gd name="adj" fmla="val 117601"/>
            </a:avLst>
          </a:prstGeom>
          <a:solidFill>
            <a:srgbClr val="3F3F44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27" y="6705124"/>
            <a:ext cx="134303" cy="1343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68172" y="6632258"/>
            <a:ext cx="2528054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Lightweight Solutions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1568172" y="7019806"/>
            <a:ext cx="12345353" cy="573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deployment of lightweight, ML-based Intrusion Detection Systems (IDS) is not just beneficial, but essential for the security of modern IoT ecosystems.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FDA67E-C22D-487C-B563-FD0A0AB7CACB}"/>
              </a:ext>
            </a:extLst>
          </p:cNvPr>
          <p:cNvSpPr/>
          <p:nvPr/>
        </p:nvSpPr>
        <p:spPr>
          <a:xfrm>
            <a:off x="12471400" y="7493000"/>
            <a:ext cx="2159000" cy="736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6363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637" y="1996321"/>
            <a:ext cx="6831330" cy="409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Alarming State of Global IoT Security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3637" y="2601754"/>
            <a:ext cx="135831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proliferation of IoT devices presents an ever-expanding attack surface. With over </a:t>
            </a:r>
            <a:r>
              <a:rPr lang="en-US" sz="10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billion IoT devices</a:t>
            </a:r>
            <a:r>
              <a:rPr lang="en-US" sz="1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estimated in 2023, the scale of the challenge is immense.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137172" y="3596521"/>
            <a:ext cx="119145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57%</a:t>
            </a:r>
            <a:endParaRPr lang="en-US" sz="1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6441" y="2991088"/>
            <a:ext cx="1453039" cy="145303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19156" y="4607600"/>
            <a:ext cx="1827490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Known Vulnerabilities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23637" y="4890492"/>
            <a:ext cx="44186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More than half of all IoT devices contain known security vulnerabilities, making them prime targets for cyber criminals.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719411" y="3596521"/>
            <a:ext cx="119145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2-5 Yrs</a:t>
            </a:r>
            <a:endParaRPr lang="en-US" sz="1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681" y="2991088"/>
            <a:ext cx="1453039" cy="14530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62951" y="4607600"/>
            <a:ext cx="1704499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End-of-Life Updates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105876" y="4890492"/>
            <a:ext cx="44186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Many devices cease receiving critical security updates after just 2-5 years, leaving them permanently exposed to new threats.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11301651" y="3596521"/>
            <a:ext cx="1191458" cy="242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9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15B+</a:t>
            </a:r>
            <a:endParaRPr lang="en-US" sz="1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0920" y="2991088"/>
            <a:ext cx="1453039" cy="14530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079242" y="4607600"/>
            <a:ext cx="1636395" cy="204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Devices Worldwide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9688116" y="4890492"/>
            <a:ext cx="441864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sheer number of interconnected devices creates a massive, growing attack surface that is difficult to monitor and protect.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23637" y="5456753"/>
            <a:ext cx="1358312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23637" y="5813465"/>
            <a:ext cx="13583126" cy="2061567"/>
          </a:xfrm>
          <a:prstGeom prst="roundRect">
            <a:avLst>
              <a:gd name="adj" fmla="val 953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31257" y="5821085"/>
            <a:ext cx="13567886" cy="166461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Shape 14"/>
          <p:cNvSpPr/>
          <p:nvPr/>
        </p:nvSpPr>
        <p:spPr>
          <a:xfrm>
            <a:off x="531257" y="5821085"/>
            <a:ext cx="6783943" cy="1664613"/>
          </a:xfrm>
          <a:prstGeom prst="roundRect">
            <a:avLst>
              <a:gd name="adj" fmla="val 1180"/>
            </a:avLst>
          </a:prstGeom>
          <a:solidFill>
            <a:srgbClr val="1F2A5D"/>
          </a:solidFill>
          <a:ln/>
        </p:spPr>
      </p:sp>
      <p:sp>
        <p:nvSpPr>
          <p:cNvPr id="21" name="Text 15"/>
          <p:cNvSpPr/>
          <p:nvPr/>
        </p:nvSpPr>
        <p:spPr>
          <a:xfrm>
            <a:off x="662107" y="5907167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Traditional IDS were designed for large computer networks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62107" y="6155888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They require high CPU, RAM, and storage resources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62107" y="6404610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devices are tiny, low-power, and often battery-operated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662107" y="6653332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Heavy IDS tools cannot run efficiently on such constrained devices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62107" y="6902053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IoT needs </a:t>
            </a:r>
            <a:r>
              <a:rPr lang="en-US" sz="10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lightweight, optimized intrusion detection solutions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62107" y="7190065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7315200" y="5821085"/>
            <a:ext cx="6783943" cy="1664613"/>
          </a:xfrm>
          <a:prstGeom prst="rect">
            <a:avLst/>
          </a:prstGeom>
          <a:solidFill>
            <a:srgbClr val="1F2A5D"/>
          </a:solidFill>
          <a:ln/>
        </p:spPr>
      </p:sp>
      <p:sp>
        <p:nvSpPr>
          <p:cNvPr id="28" name="Text 22"/>
          <p:cNvSpPr/>
          <p:nvPr/>
        </p:nvSpPr>
        <p:spPr>
          <a:xfrm>
            <a:off x="7449860" y="5907167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These solutions must handle IoT’s unique challenges: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449860" y="6155888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limited memory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7449860" y="6404610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limited processing power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449860" y="6653332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always-online exposure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449860" y="6902053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large-scale deployment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31257" y="7485698"/>
            <a:ext cx="13567886" cy="3817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4" name="Shape 28"/>
          <p:cNvSpPr/>
          <p:nvPr/>
        </p:nvSpPr>
        <p:spPr>
          <a:xfrm>
            <a:off x="531257" y="7485698"/>
            <a:ext cx="6783943" cy="381714"/>
          </a:xfrm>
          <a:prstGeom prst="rect">
            <a:avLst/>
          </a:prstGeom>
          <a:solidFill>
            <a:srgbClr val="1F2A5D"/>
          </a:solidFill>
          <a:ln/>
        </p:spPr>
      </p:sp>
      <p:sp>
        <p:nvSpPr>
          <p:cNvPr id="35" name="Text 29"/>
          <p:cNvSpPr/>
          <p:nvPr/>
        </p:nvSpPr>
        <p:spPr>
          <a:xfrm>
            <a:off x="662107" y="7571780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7315200" y="7485698"/>
            <a:ext cx="6783943" cy="381714"/>
          </a:xfrm>
          <a:prstGeom prst="rect">
            <a:avLst/>
          </a:prstGeom>
          <a:solidFill>
            <a:srgbClr val="1F2A5D"/>
          </a:solidFill>
          <a:ln/>
        </p:spPr>
      </p:sp>
      <p:sp>
        <p:nvSpPr>
          <p:cNvPr id="37" name="Text 31"/>
          <p:cNvSpPr/>
          <p:nvPr/>
        </p:nvSpPr>
        <p:spPr>
          <a:xfrm>
            <a:off x="7449860" y="7571780"/>
            <a:ext cx="651843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endParaRPr lang="en-US" sz="1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D5DAEC9-C528-4456-BDFF-898135296DC0}"/>
              </a:ext>
            </a:extLst>
          </p:cNvPr>
          <p:cNvSpPr/>
          <p:nvPr/>
        </p:nvSpPr>
        <p:spPr>
          <a:xfrm>
            <a:off x="12471400" y="7867412"/>
            <a:ext cx="2159000" cy="362188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9E0517C-194C-40D4-B2FE-C4E9164929F6}"/>
              </a:ext>
            </a:extLst>
          </p:cNvPr>
          <p:cNvSpPr/>
          <p:nvPr/>
        </p:nvSpPr>
        <p:spPr>
          <a:xfrm>
            <a:off x="14099144" y="7493000"/>
            <a:ext cx="531256" cy="736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5580"/>
            <a:ext cx="62062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Goals and Scope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016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Project Goal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47210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evaluate a comprehensive range of existing Machine Learning models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for intrusion detection.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17659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select the most robust and efficient model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capable of identifying network anomalies effectively.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88108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deploy the chosen model on a Raspberry Pi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for real-time intrusion detection capabilities within an IoT environment.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290167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Scope (CSE499A)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64874" y="3472101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focus is on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applying and optimising existing ML techniques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rather than developing novel algorithms.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417659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 will conduct a thorough comparison between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supervised and unsupervised learning methods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to determine their suitability.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198626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project includes building a complete </a:t>
            </a:r>
            <a:r>
              <a:rPr lang="en-US" sz="15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preprocessing and deployment pipeline</a:t>
            </a: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for practical application.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612636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This project aims to bridge the gap between theoretical ML models and their practical, real-world application in securing IoT networks.</a:t>
            </a:r>
            <a:endParaRPr lang="en-US" sz="15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CC71993-1152-4BE6-B0DD-321BF5F5E9A5}"/>
              </a:ext>
            </a:extLst>
          </p:cNvPr>
          <p:cNvSpPr/>
          <p:nvPr/>
        </p:nvSpPr>
        <p:spPr>
          <a:xfrm>
            <a:off x="12471400" y="7493000"/>
            <a:ext cx="2159000" cy="736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8877" y="370523"/>
            <a:ext cx="8915043" cy="421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Overview: Real-Time IoT Intrusion Detection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38877" y="1060966"/>
            <a:ext cx="13552646" cy="431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system is designed for efficient, real-time intrusion detection in IoT networks. The workflow starts with incoming IoT traffic, which is then processed, analysed by an ML model, and ultimately leads to a prediction of normal or anomalous behaviour.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451" y="1643777"/>
            <a:ext cx="6647378" cy="44059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8877" y="6302216"/>
            <a:ext cx="13552646" cy="15240"/>
          </a:xfrm>
          <a:prstGeom prst="roundRect">
            <a:avLst>
              <a:gd name="adj" fmla="val 132623"/>
            </a:avLst>
          </a:prstGeom>
          <a:solidFill>
            <a:srgbClr val="3F3F44"/>
          </a:solidFill>
          <a:ln/>
        </p:spPr>
      </p:sp>
      <p:sp>
        <p:nvSpPr>
          <p:cNvPr id="6" name="Shape 3"/>
          <p:cNvSpPr/>
          <p:nvPr/>
        </p:nvSpPr>
        <p:spPr>
          <a:xfrm>
            <a:off x="2162175" y="6302216"/>
            <a:ext cx="15240" cy="269438"/>
          </a:xfrm>
          <a:prstGeom prst="roundRect">
            <a:avLst>
              <a:gd name="adj" fmla="val 132623"/>
            </a:avLst>
          </a:prstGeom>
          <a:solidFill>
            <a:srgbClr val="3F3F4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9313" y="6251734"/>
            <a:ext cx="100965" cy="1009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7666" y="6706433"/>
            <a:ext cx="1684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JSON Input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73537" y="6997779"/>
            <a:ext cx="2992517" cy="646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 is received in JSON format, ensuring compatibility and ease of integration with various IoT devices and platforms.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592366" y="6302216"/>
            <a:ext cx="15240" cy="269438"/>
          </a:xfrm>
          <a:prstGeom prst="roundRect">
            <a:avLst>
              <a:gd name="adj" fmla="val 132623"/>
            </a:avLst>
          </a:prstGeom>
          <a:solidFill>
            <a:srgbClr val="3F3F4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9503" y="6251734"/>
            <a:ext cx="100965" cy="1009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62450" y="6706433"/>
            <a:ext cx="2475190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Formatting &amp; Scaling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4103727" y="6997779"/>
            <a:ext cx="2992636" cy="862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Raw data undergoes essential formatting and scaling to prepare it for optimal model performance, removing noise and normalising values.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9022675" y="6302216"/>
            <a:ext cx="15240" cy="269438"/>
          </a:xfrm>
          <a:prstGeom prst="roundRect">
            <a:avLst>
              <a:gd name="adj" fmla="val 132623"/>
            </a:avLst>
          </a:prstGeom>
          <a:solidFill>
            <a:srgbClr val="3F3F44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813" y="6251734"/>
            <a:ext cx="100965" cy="1009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88166" y="6706433"/>
            <a:ext cx="1684258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 Inference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7534037" y="6997779"/>
            <a:ext cx="2992517" cy="646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preprocessed data is fed into the deployed Machine Learning model for rapid and accurate inference, identifying potential threats.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12452866" y="6302216"/>
            <a:ext cx="15240" cy="269438"/>
          </a:xfrm>
          <a:prstGeom prst="roundRect">
            <a:avLst>
              <a:gd name="adj" fmla="val 132623"/>
            </a:avLst>
          </a:prstGeom>
          <a:solidFill>
            <a:srgbClr val="3F3F44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10003" y="6251734"/>
            <a:ext cx="100965" cy="1009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388090" y="6706433"/>
            <a:ext cx="2144911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Normal / Attack Decision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10964228" y="6997779"/>
            <a:ext cx="2992636" cy="862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system provides a clear decision: classifying incoming traffic as either benign (Normal) or malicious (Attack), triggering appropriate responses.</a:t>
            </a:r>
            <a:endParaRPr lang="en-US" sz="10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01C908-55FE-4D85-976D-A16CE2073650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336" y="594479"/>
            <a:ext cx="7324487" cy="31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Datasets and Preprocessing: Fueling Intelligent Detection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99336" y="1106210"/>
            <a:ext cx="13831729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Accurate intrusion detection relies heavily on high-quality datasets and meticulous preprocessing. We leveraged two distinct datasets to train and validate our models.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767" y="1490543"/>
            <a:ext cx="2555081" cy="25550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9336" y="4157901"/>
            <a:ext cx="1997154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Datasets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99336" y="4507230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399336" y="4766786"/>
            <a:ext cx="1497806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TON_IoT:</a:t>
            </a:r>
            <a:r>
              <a:rPr lang="en-US" sz="1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9336" y="5053727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Contains real IoT cyberattack scenarios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99336" y="5248394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Includes diverse attack types observed in actual IoT environments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99336" y="5443061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Highly realistic and representative of modern IoT deployments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99336" y="5637728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Ideal for evaluating model performance under real-world conditions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99336" y="5832396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Provides complex, noisy, imbalanced data typical of IoT networks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99336" y="6081951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99336" y="6341507"/>
            <a:ext cx="1497806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NSL-KDD:</a:t>
            </a:r>
            <a:r>
              <a:rPr lang="en-US" sz="1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99336" y="6628448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classical and widely used IDS benchmark dataset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99336" y="6823115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Commonly used in network security research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99336" y="7017782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Suitable for validating basic model behavior and correctness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99336" y="7212449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More balanced and cleaner compared to TON_IoT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99336" y="7407116"/>
            <a:ext cx="6794063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250"/>
              </a:lnSpc>
              <a:buSzPct val="100000"/>
              <a:buChar char="•"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Helps confirm the effectiveness of preprocessing and training pipeline</a:t>
            </a:r>
            <a:endParaRPr lang="en-US" sz="7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943" y="1490543"/>
            <a:ext cx="3157418" cy="248281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44621" y="4085630"/>
            <a:ext cx="2114788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Preprocessing Steps</a:t>
            </a:r>
            <a:endParaRPr lang="en-US" sz="15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4621" y="4447461"/>
            <a:ext cx="499229" cy="51530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043624" y="4447461"/>
            <a:ext cx="124825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043624" y="4703207"/>
            <a:ext cx="6195060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Removal of inconsistencies, missing values, and irrelevant entries to ensure data integrity.</a:t>
            </a:r>
            <a:endParaRPr lang="en-US" sz="7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621" y="5062537"/>
            <a:ext cx="499229" cy="5153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043624" y="5062537"/>
            <a:ext cx="1382197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Categorical Encoding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043624" y="5318284"/>
            <a:ext cx="6195060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Conversion of categorical features into numerical representations suitable for machine learning algorithms.</a:t>
            </a:r>
            <a:endParaRPr lang="en-US" sz="75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4621" y="5677614"/>
            <a:ext cx="499229" cy="5153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043624" y="5677614"/>
            <a:ext cx="124825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Scaling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043624" y="5933361"/>
            <a:ext cx="6195060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Normalisation or standardisation of numerical features to prevent dominance by features with larger values.</a:t>
            </a:r>
            <a:endParaRPr lang="en-US" sz="7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4621" y="6292691"/>
            <a:ext cx="499229" cy="5153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43624" y="6292691"/>
            <a:ext cx="1275755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Feature Engineering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8043624" y="6548438"/>
            <a:ext cx="6195060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Creation of new, more informative features from existing ones to enhance model predictive power.</a:t>
            </a:r>
            <a:endParaRPr lang="en-US" sz="7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4621" y="6907768"/>
            <a:ext cx="499229" cy="51530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043624" y="6907768"/>
            <a:ext cx="1248251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Saving Artifacts</a:t>
            </a:r>
            <a:endParaRPr lang="en-US" sz="950" dirty="0"/>
          </a:p>
        </p:txBody>
      </p:sp>
      <p:sp>
        <p:nvSpPr>
          <p:cNvPr id="36" name="Text 27"/>
          <p:cNvSpPr/>
          <p:nvPr/>
        </p:nvSpPr>
        <p:spPr>
          <a:xfrm>
            <a:off x="8043624" y="7163514"/>
            <a:ext cx="6195060" cy="159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7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Storage of preprocessor components (scalers, encoders, feature ordering) to ensure consistent application during deployment.</a:t>
            </a:r>
            <a:endParaRPr lang="en-US" sz="75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B87DED-9BFC-4808-B97F-055213218DC3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5435" y="432673"/>
            <a:ext cx="7712988" cy="488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Models and Mathematical Foundations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25435" y="1233845"/>
            <a:ext cx="13379529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We explored a diverse range of Machine Learning models, categorising them into supervised and unsupervised approaches, to identify the most effective solution for IoT intrusion detection.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5435" y="2066092"/>
            <a:ext cx="3386971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Supervised Learning Models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25435" y="2515553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These models learn from labelled data, where each instance is tagged as either normal or anomalous. They are highly effective for detecting known attack patterns.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5435" y="3156347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 (RF):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 ensemble method that builds multiple decision trees and merges their predictions for higher accuracy and robustness.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5435" y="3711059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XGBoost: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highly efficient and flexible gradient boosting framework that is known for its speed and performance.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435" y="4265771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Support Vector Machine (SVM):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powerful algorithm for classification and regression tasks, finding an optimal hyperplane to separate classes.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5435" y="4820483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Logistic Regression: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statistical model used for binary classification, estimating probabilities using a logistic function.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435" y="5375196"/>
            <a:ext cx="6499027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K-Nearest Neighbours (KNN):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non-parametric, instance-based learning algorithm that classifies new data points based on the majority class of their k-nearest neighbours.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5435" y="6179939"/>
            <a:ext cx="6499027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Decision Tree: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tree-like model where each internal node represents a test on an attribute, each branch represents an outcome of the test, and each leaf node represents a class label.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13558" y="2066092"/>
            <a:ext cx="3689390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Unsupervised Learning Models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13558" y="2515553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These models identify anomalies without prior knowledge of attack types, making them suitable for detecting zero-day attacks and unknown threats.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13558" y="3156347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Isolation Forest (IF):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 ensemble of isolation trees that explicitly isolate anomalies instead of profiling normal data points.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13558" y="3711059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One-Class SVM (OCSVM):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variant of SVM used for novelty detection, training on a dataset of "normal" instances and detecting any deviation from this norm.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13558" y="4265771"/>
            <a:ext cx="6499027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Autoencoder: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neural network that learns to compress data into a lower-dimensional representation and then reconstruct it. Anomalies are detected by high reconstruction errors.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13558" y="5172194"/>
            <a:ext cx="4239816" cy="2931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Underlying Mathematical Concepts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13558" y="5621655"/>
            <a:ext cx="649902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 Gini Impurity: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1200" i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G = 1 - \sum p_k^2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. Measures the likelihood of an incorrect classification if a data point is randomly chosen from a split.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13558" y="6265307"/>
            <a:ext cx="6499027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XGBoost Loss Function: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Involves a regularised objective function that includes both a loss term (measuring prediction error) and a regularisation term (controlling model complexity).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13558" y="7156133"/>
            <a:ext cx="6499027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Isolation Forest Anomaly Score:</a:t>
            </a:r>
            <a:r>
              <a:rPr lang="en-US" sz="12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Anomalies have shorter average path lengths in isolation trees, as they are easier to separate from the majority of data points.</a:t>
            </a:r>
            <a:endParaRPr lang="en-US" sz="12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DFA9AD-14B4-45DC-95D8-F5E52C918E76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914" y="553641"/>
            <a:ext cx="11186874" cy="504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Performance Insights: TON_IoT and NSL-KDD Findings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45914" y="1381125"/>
            <a:ext cx="13338572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rigorous evaluation across two distinct datasets yielded crucial insights into the performance characteristics of various Machine Learning models, guiding our final selection for deployment.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5914" y="2240637"/>
            <a:ext cx="2422327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TON_IoT Findings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45914" y="2704862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The TON_IoT dataset, with its focus on real-world IoT cyberattacks, provided a critical testbed for our models: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5914" y="3366611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XGBoost: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Consistently delivered the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highest accuracy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demonstrating its strong capability in classifying diverse IoT attack types.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5914" y="3939540"/>
            <a:ext cx="6472357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Showcased an optimal balance between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high performance and computational speed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making it a strong candidate for resource-constrained IoT environments.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5914" y="4770715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Isolation Forest: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Proved to be a decent performer for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unsupervised anomaly detection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highlighting its potential for identifying novel threats.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5914" y="5343644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One-Class SVM (OCSVM):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Exhibited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unstable performance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suggesting it may not be ideally suited for the complexity and variability of IoT traffic in this context.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19749" y="2240637"/>
            <a:ext cx="2422327" cy="302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NSL-KDD Findings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19749" y="2704862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Testing against the classical NSL-KDD dataset served to validate our methodological approach and preprocessing pipeline: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19749" y="3366611"/>
            <a:ext cx="6472357" cy="516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RF &amp; XGBoost: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Both models produced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strong accuracy results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confirming their general efficacy in network intrusion detection tasks.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519749" y="3939540"/>
            <a:ext cx="6472357" cy="774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Preprocessing Validation: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The consistent high performance of these established models on NSL-KDD </a:t>
            </a:r>
            <a:r>
              <a:rPr lang="en-US" sz="12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confirmed that our preprocessing pipeline was correctly implemented</a:t>
            </a: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and effectively prepared the data for ML analysis.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5914" y="6098143"/>
            <a:ext cx="13338572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5914" y="6537960"/>
            <a:ext cx="13338572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Ensemble methods are the strongest overall.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5914" y="6977777"/>
            <a:ext cx="13338572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 chosen for deployment due to its accuracy, efficiency, and low resource footprint —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5914" y="7417594"/>
            <a:ext cx="13338572" cy="258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perfect for Raspberry Pi intrusion detection.</a:t>
            </a:r>
            <a:endParaRPr lang="en-US" sz="12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0D7719-21F5-454F-85A9-C9BAB53FFB7C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4715" y="396954"/>
            <a:ext cx="8856345" cy="448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Deployment: Raspberry Pi and Real-Time Testing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74715" y="1133237"/>
            <a:ext cx="13480971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To demonstrate the practical applicability of our solution, we deployed the selected Machine Learning model on a Raspberry Pi, creating a functional, real-time intrusion detection system.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920" y="1809631"/>
            <a:ext cx="3284696" cy="3284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4715" y="5255895"/>
            <a:ext cx="2393037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Backend Architecture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4715" y="5668804"/>
            <a:ext cx="656522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Flask API: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lightweight web framework providing the interface for receiving network traffic data.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74715" y="6178868"/>
            <a:ext cx="656522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Preprocessor Module: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Integrates the saved preprocessing artifacts to transform incoming raw data into a format suitable for the model.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4715" y="6688931"/>
            <a:ext cx="656522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 Model: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The selected ML model, chosen for its balance of accuracy and efficiency, embedded for rapid inference.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4715" y="7198995"/>
            <a:ext cx="6565225" cy="459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/login Endpoint: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A specific API endpoint designed to simulate typical IoT device traffic or authentication attempts for monitoring.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98080" y="1668304"/>
            <a:ext cx="215550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Fuzzing Workflow</a:t>
            </a:r>
            <a:endParaRPr lang="en-US" sz="1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099191"/>
            <a:ext cx="718423" cy="8852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60093" y="2242780"/>
            <a:ext cx="179629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CSV Row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360093" y="2610922"/>
            <a:ext cx="570321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Simulated network traffic data from a CSV file.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984421"/>
            <a:ext cx="718423" cy="88523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60093" y="3128010"/>
            <a:ext cx="179629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JSON Conversion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360093" y="3496151"/>
            <a:ext cx="570321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Each row converted into a JSON object.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869650"/>
            <a:ext cx="718423" cy="88523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60093" y="4013240"/>
            <a:ext cx="1796296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POST Request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360093" y="4381381"/>
            <a:ext cx="570321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JSON data sent to the Raspberry Pi API.</a:t>
            </a:r>
            <a:endParaRPr lang="en-US" sz="11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4754880"/>
            <a:ext cx="718423" cy="88523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60093" y="4898469"/>
            <a:ext cx="2215872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Raspberry Pi Processing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360093" y="5266611"/>
            <a:ext cx="570321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 processed by the deployed model.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0" y="5640110"/>
            <a:ext cx="718423" cy="88523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360093" y="5783699"/>
            <a:ext cx="1926550" cy="224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Prediction &amp; Logging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8360093" y="6151840"/>
            <a:ext cx="5703213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Output logged as normal or attack.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7498080" y="6686907"/>
            <a:ext cx="6565225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498080" y="7060406"/>
            <a:ext cx="2155508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System Workflow</a:t>
            </a:r>
            <a:endParaRPr lang="en-US" sz="1650" dirty="0"/>
          </a:p>
        </p:txBody>
      </p:sp>
      <p:sp>
        <p:nvSpPr>
          <p:cNvPr id="28" name="Text 20"/>
          <p:cNvSpPr/>
          <p:nvPr/>
        </p:nvSpPr>
        <p:spPr>
          <a:xfrm>
            <a:off x="7498080" y="7473315"/>
            <a:ext cx="6565225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Incoming Data </a:t>
            </a:r>
            <a:r>
              <a:rPr lang="en-US" sz="1100" dirty="0">
                <a:solidFill>
                  <a:srgbClr val="6296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Preprocessing </a:t>
            </a:r>
            <a:r>
              <a:rPr lang="en-US" sz="1100" dirty="0">
                <a:solidFill>
                  <a:srgbClr val="6296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Model </a:t>
            </a:r>
            <a:r>
              <a:rPr lang="en-US" sz="1100" dirty="0">
                <a:solidFill>
                  <a:srgbClr val="6296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→</a:t>
            </a:r>
            <a:r>
              <a:rPr lang="en-US" sz="110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Normal/Attack Decision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38463E-9D88-4DDD-B49F-4CCE5A9AC7AF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277" y="586502"/>
            <a:ext cx="8452009" cy="543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Insights, Limitations, and Future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6277" y="1478518"/>
            <a:ext cx="13237845" cy="278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Our project successfully demonstrated the viability of ML-based intrusion detection in IoT networks, but also highlighted areas for further development.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6277" y="2213848"/>
            <a:ext cx="4296489" cy="5429250"/>
          </a:xfrm>
          <a:prstGeom prst="roundRect">
            <a:avLst>
              <a:gd name="adj" fmla="val 2554"/>
            </a:avLst>
          </a:prstGeom>
          <a:solidFill>
            <a:srgbClr val="07070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" y="2190988"/>
            <a:ext cx="4296489" cy="91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3418" y="1952744"/>
            <a:ext cx="522208" cy="52220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40104" y="2109311"/>
            <a:ext cx="208836" cy="20883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207" y="2649022"/>
            <a:ext cx="217610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893207" y="3025497"/>
            <a:ext cx="3902631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Ensemble models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(like Random Forest and XGBoost) consistently provided the strongest performance.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893207" y="3921800"/>
            <a:ext cx="3902631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Random Forest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emerged as the ideal model for real-time IoT deployment due to its balance of accuracy and efficiency.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93207" y="4818102"/>
            <a:ext cx="3902631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 Raspberry Pi is a capable platform for hosting an </a:t>
            </a: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ML-based IDS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 proving its feasibility for edge deployment.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5166836" y="2213848"/>
            <a:ext cx="4296608" cy="5429250"/>
          </a:xfrm>
          <a:prstGeom prst="roundRect">
            <a:avLst>
              <a:gd name="adj" fmla="val 2554"/>
            </a:avLst>
          </a:prstGeom>
          <a:solidFill>
            <a:srgbClr val="07070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836" y="2190988"/>
            <a:ext cx="4296608" cy="9144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977" y="1952744"/>
            <a:ext cx="522208" cy="52220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0663" y="2109311"/>
            <a:ext cx="208836" cy="2088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363766" y="2649022"/>
            <a:ext cx="217610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5363766" y="3025497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Lack of Explainability: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The current models do not provide insights into why a specific decision was made (no SHAP integration).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5363766" y="3921800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No Zero-Day Detection: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Supervised models struggle with novel, previously unseen attack types.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5363766" y="4818102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Single Device Testing: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Deployment and testing were limited to a single Raspberry Pi device.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5363766" y="5714405"/>
            <a:ext cx="3902750" cy="1113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Dataset Imbalance: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Real-world datasets often have a significant imbalance between normal and anomalous traffic, impacting model training.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9637514" y="2213848"/>
            <a:ext cx="4296608" cy="5429250"/>
          </a:xfrm>
          <a:prstGeom prst="roundRect">
            <a:avLst>
              <a:gd name="adj" fmla="val 2554"/>
            </a:avLst>
          </a:prstGeom>
          <a:solidFill>
            <a:srgbClr val="07070C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514" y="2190988"/>
            <a:ext cx="4296608" cy="9144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4655" y="1952744"/>
            <a:ext cx="522208" cy="522208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81341" y="2109311"/>
            <a:ext cx="208836" cy="208836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9834443" y="2649022"/>
            <a:ext cx="2588419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Future Work (CSE499B)</a:t>
            </a:r>
            <a:endParaRPr lang="en-US" sz="1700" dirty="0"/>
          </a:p>
        </p:txBody>
      </p:sp>
      <p:sp>
        <p:nvSpPr>
          <p:cNvPr id="26" name="Text 15"/>
          <p:cNvSpPr/>
          <p:nvPr/>
        </p:nvSpPr>
        <p:spPr>
          <a:xfrm>
            <a:off x="9834443" y="3025497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Explainable AI (XAI):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Incorporating SHAP values or other XAI techniques for better interpretability.</a:t>
            </a:r>
            <a:endParaRPr lang="en-US" sz="1350" dirty="0"/>
          </a:p>
        </p:txBody>
      </p:sp>
      <p:sp>
        <p:nvSpPr>
          <p:cNvPr id="27" name="Text 16"/>
          <p:cNvSpPr/>
          <p:nvPr/>
        </p:nvSpPr>
        <p:spPr>
          <a:xfrm>
            <a:off x="9834443" y="3921800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Zero-Day Generalisation: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Enhancing models to detect novel attack patterns more effectively.</a:t>
            </a:r>
            <a:endParaRPr lang="en-US" sz="1350" dirty="0"/>
          </a:p>
        </p:txBody>
      </p:sp>
      <p:sp>
        <p:nvSpPr>
          <p:cNvPr id="28" name="Text 17"/>
          <p:cNvSpPr/>
          <p:nvPr/>
        </p:nvSpPr>
        <p:spPr>
          <a:xfrm>
            <a:off x="9834443" y="4818102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Model Compression: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Optimising models for even smaller footprints and faster inference on highly resource-constrained devices.</a:t>
            </a:r>
            <a:endParaRPr lang="en-US" sz="1350" dirty="0"/>
          </a:p>
        </p:txBody>
      </p:sp>
      <p:sp>
        <p:nvSpPr>
          <p:cNvPr id="29" name="Text 18"/>
          <p:cNvSpPr/>
          <p:nvPr/>
        </p:nvSpPr>
        <p:spPr>
          <a:xfrm>
            <a:off x="9834443" y="5714405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ESP32 Deployment: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Exploring deployment on ultra-low-power microcontrollers like ESP32.</a:t>
            </a:r>
            <a:endParaRPr lang="en-US" sz="1350" dirty="0"/>
          </a:p>
        </p:txBody>
      </p:sp>
      <p:sp>
        <p:nvSpPr>
          <p:cNvPr id="30" name="Text 19"/>
          <p:cNvSpPr/>
          <p:nvPr/>
        </p:nvSpPr>
        <p:spPr>
          <a:xfrm>
            <a:off x="9834443" y="6610707"/>
            <a:ext cx="3902750" cy="835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Hybrid IDS Systems:</a:t>
            </a:r>
            <a:r>
              <a:rPr lang="en-US" sz="1350" dirty="0">
                <a:solidFill>
                  <a:srgbClr val="E0D6DE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Developing systems that combine the strengths of both supervised and unsupervised methods.</a:t>
            </a:r>
            <a:endParaRPr lang="en-US" sz="13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9A39FA-7E66-41B2-9631-28DCDFE2044A}"/>
              </a:ext>
            </a:extLst>
          </p:cNvPr>
          <p:cNvSpPr/>
          <p:nvPr/>
        </p:nvSpPr>
        <p:spPr>
          <a:xfrm>
            <a:off x="12816114" y="7798356"/>
            <a:ext cx="1814286" cy="431244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1985</Words>
  <Application>Microsoft Office PowerPoint</Application>
  <PresentationFormat>Custom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Sora Medium</vt:lpstr>
      <vt:lpstr>Noto Sans TC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Safin Arafat</cp:lastModifiedBy>
  <cp:revision>2</cp:revision>
  <dcterms:created xsi:type="dcterms:W3CDTF">2025-12-09T21:55:47Z</dcterms:created>
  <dcterms:modified xsi:type="dcterms:W3CDTF">2025-12-10T04:15:01Z</dcterms:modified>
</cp:coreProperties>
</file>