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dia/image4.jpg" ContentType="image/jpg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4B556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D9F-43BD-950E-128AF1C1E1C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DD9F-43BD-950E-128AF1C1E1CF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DD9F-43BD-950E-128AF1C1E1CF}"/>
              </c:ext>
            </c:extLst>
          </c:dPt>
          <c:dPt>
            <c:idx val="3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D9F-43BD-950E-128AF1C1E1CF}"/>
              </c:ext>
            </c:extLst>
          </c:dPt>
          <c:dPt>
            <c:idx val="4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D9F-43BD-950E-128AF1C1E1C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RF Only</c:v>
                </c:pt>
                <c:pt idx="1">
                  <c:v>+ XGBoost</c:v>
                </c:pt>
                <c:pt idx="2">
                  <c:v>+ Calibration</c:v>
                </c:pt>
                <c:pt idx="3">
                  <c:v>+ Zero-Day
(naive)</c:v>
                </c:pt>
                <c:pt idx="4">
                  <c:v>Full System
(SafeNest)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0.98040000000000005</c:v>
                </c:pt>
                <c:pt idx="1">
                  <c:v>0.98219999999999996</c:v>
                </c:pt>
                <c:pt idx="2">
                  <c:v>0.98360000000000003</c:v>
                </c:pt>
                <c:pt idx="3">
                  <c:v>0.97370000000000001</c:v>
                </c:pt>
                <c:pt idx="4">
                  <c:v>0.98309999999999997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D9F-43BD-950E-128AF1C1E1C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96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F204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Trust Score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8ED-4C02-8182-317B52CC8300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98ED-4C02-8182-317B52CC8300}"/>
              </c:ext>
            </c:extLst>
          </c:dPt>
          <c:dPt>
            <c:idx val="2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8ED-4C02-8182-317B52CC8300}"/>
              </c:ext>
            </c:extLst>
          </c:dPt>
          <c:dPt>
            <c:idx val="3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8ED-4C02-8182-317B52CC830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Owner
Home WiFi</c:v>
                </c:pt>
                <c:pt idx="1">
                  <c:v>Owner
Melbourne</c:v>
                </c:pt>
                <c:pt idx="2">
                  <c:v>Attacker
Foreign VPS</c:v>
                </c:pt>
                <c:pt idx="3">
                  <c:v>Attacker
Same ISP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0.97</c:v>
                </c:pt>
                <c:pt idx="1">
                  <c:v>0.92</c:v>
                </c:pt>
                <c:pt idx="2">
                  <c:v>0.28000000000000003</c:v>
                </c:pt>
                <c:pt idx="3">
                  <c:v>0.34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8ED-4C02-8182-317B52CC830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F20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6865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1463040"/>
            <a:ext cx="1828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320040" y="54864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SafeNest Guard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320040" y="141732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IoT Security for Bangladeshi Homes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20040" y="1883664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Instant Bangla Threat Alerts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20040" y="2331720"/>
            <a:ext cx="530352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45059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Khondokar</a:t>
            </a: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Sajid (2211954042)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20040" y="272491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Kazi Safin Arafat (2211778642)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20040" y="299923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Moushumi Akter Mow (2021983642)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20040" y="327355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Rakibul Hasan Ridoy (1731339042)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20040" y="361188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Advisor: Md. Mohammad Shifat-E-Rabbi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" y="385876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499B  ·  ECE Department  ·  North South University  ·  Spring 2026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" y="434340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NSU ACM SC Innovation Challenge — Season 20</a:t>
            </a:r>
            <a:endParaRPr lang="en-US" sz="13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AF83E92-9F03-A650-0F0C-C104889C0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4247" y="491485"/>
            <a:ext cx="788352" cy="82295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22967E0-5A9C-6B45-CD51-AB499DE65D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8094" y="497203"/>
            <a:ext cx="788351" cy="8229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— Bangladesh's IoT Blind Spot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SafeNest Guard  ·  CSE 499B  ·  North South University  ·  Spring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82296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15M+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74320" y="145389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Devices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7647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BD homes today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23160" y="777240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23160" y="82296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2423160" y="145389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IDS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23160" y="17647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designed for BD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777240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0" y="82296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4572000" y="145389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Unmonitored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17647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local security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20840" y="777240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A16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20840" y="82296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6720840" y="145389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20840" y="17647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Bangla alerts exist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" y="224028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happening in Bangladeshi homes right now: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74320" y="2578608"/>
            <a:ext cx="8595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CCTV camera is being watched by a stranger — and you do not know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smart lock was opened remotely last night — and nobody told you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router is leaking private data to foreign servers — silently, every day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existing security tool is in English, cloud-dependent, and built for Western homes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Load-shedding kills cloud security — your home is dark and unprotected for hours</a:t>
            </a:r>
            <a:endParaRPr lang="en-US" sz="14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FDCB51E-AC0D-231F-B68A-FB203EE544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234" y="914400"/>
            <a:ext cx="1035178" cy="5394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SafeNest Guard  ·  CSE 499B  ·  North South University  ·  Spring 2026</a:t>
            </a:r>
            <a:endParaRPr lang="en-US" sz="900" dirty="0"/>
          </a:p>
        </p:txBody>
      </p:sp>
      <p:pic>
        <p:nvPicPr>
          <p:cNvPr id="4" name="Image 0" descr="/mnt/user-data/uploads/big_brother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457200"/>
            <a:ext cx="457200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8600" y="3200400"/>
            <a:ext cx="4572000" cy="457200"/>
          </a:xfrm>
          <a:prstGeom prst="rect">
            <a:avLst/>
          </a:prstGeom>
          <a:solidFill>
            <a:srgbClr val="DC2626">
              <a:alpha val="7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5074920" y="502920"/>
            <a:ext cx="3794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"BIG BROTHER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WATCHING YOU"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074920" y="19202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George Orwell, 1984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74920" y="2331720"/>
            <a:ext cx="3657600" cy="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74920" y="246888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in Bangladesh, Big Brother has a different face: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074920" y="2852928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hacker watching your bedroom camera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thief who just unlocked your front door remotely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server silently collecting your family's data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SafeNest Guard  ·  CSE 499B  ·  North South University  ·  Spring 2026</a:t>
            </a:r>
            <a:endParaRPr lang="en-US" sz="900" dirty="0"/>
          </a:p>
        </p:txBody>
      </p:sp>
      <p:pic>
        <p:nvPicPr>
          <p:cNvPr id="4" name="Image 0" descr="/mnt/user-data/uploads/big_brother.jpg"/>
          <p:cNvPicPr>
            <a:picLocks noChangeAspect="1"/>
          </p:cNvPicPr>
          <p:nvPr/>
        </p:nvPicPr>
        <p:blipFill>
          <a:blip r:embed="rId3">
            <a:alphaModFix amt="35000"/>
          </a:blip>
          <a:srcRect/>
          <a:stretch/>
        </p:blipFill>
        <p:spPr>
          <a:xfrm>
            <a:off x="228600" y="777240"/>
            <a:ext cx="3474720" cy="2468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" y="77724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DC2626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0" dirty="0"/>
          </a:p>
        </p:txBody>
      </p:sp>
      <p:sp>
        <p:nvSpPr>
          <p:cNvPr id="6" name="Shape 3"/>
          <p:cNvSpPr/>
          <p:nvPr/>
        </p:nvSpPr>
        <p:spPr>
          <a:xfrm>
            <a:off x="3794760" y="2011680"/>
            <a:ext cx="82296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703320" y="1828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4B8A6"/>
                </a:solidFill>
              </a:rPr>
              <a:t>→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4754880" y="640080"/>
            <a:ext cx="4114800" cy="2834640"/>
          </a:xfrm>
          <a:prstGeom prst="rect">
            <a:avLst/>
          </a:prstGeom>
          <a:solidFill>
            <a:srgbClr val="0D3050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754880" y="658368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6000" dirty="0"/>
          </a:p>
        </p:txBody>
      </p:sp>
      <p:sp>
        <p:nvSpPr>
          <p:cNvPr id="10" name="Text 7"/>
          <p:cNvSpPr/>
          <p:nvPr/>
        </p:nvSpPr>
        <p:spPr>
          <a:xfrm>
            <a:off x="4846320" y="16916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SafeNest Guard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Big Brother.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4846320" y="2487168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home. Your devices.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privacy. Protected.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 Bangla.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0" y="3840480"/>
            <a:ext cx="9144000" cy="640080"/>
          </a:xfrm>
          <a:prstGeom prst="rect">
            <a:avLst/>
          </a:prstGeom>
          <a:solidFill>
            <a:srgbClr val="072B1C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" y="38404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see the attacker before your family does. Then we alert you — in Bangla — with exactly what to do.</a:t>
            </a:r>
            <a:endParaRPr lang="en-US" sz="16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54DF5D3-8853-2422-189F-291D7D6477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8620" y="950977"/>
            <a:ext cx="1047319" cy="8229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— In One Slide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SafeNest Guard  ·  CSE 499B  ·  North South University  ·  Spring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4160520" cy="374904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82296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SafeNest Guard is: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20040" y="1207008"/>
            <a:ext cx="3886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AI security system for home IoT devices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on a $50 Raspberry Pi 4 — no cloud needed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offline during load-shedding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your family in Bangla — no English needed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Watching your camera, smart lock, and router 24/7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20040" y="354787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device. $50. Protects your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home network.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17720" y="749808"/>
            <a:ext cx="4251960" cy="3749040"/>
          </a:xfrm>
          <a:prstGeom prst="rect">
            <a:avLst/>
          </a:prstGeom>
          <a:solidFill>
            <a:srgbClr val="F1F5F9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9160" y="82296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solves: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800600" y="12344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known attacks: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4721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DDoS, brute force, port scans, ARP spoofing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18196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zero-day threats: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205740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attacks — no signature needed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24048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the real owner: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264261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Distinguishes you from a hacker in the same city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29900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for BD: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322783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Prayer times, load-shedding, Fri-Sat weekend encoded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35753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in Bangla: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0600" y="381304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name + immediate action steps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5-Layer AI Pipeline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SafeNest Guard  ·  CSE 499B  ·  North South University  ·  Spring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1600200" cy="123444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7772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CAPTURE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8600" y="1133856"/>
            <a:ext cx="16002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tcpdump + CICFlowMeter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 network features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0" y="749808"/>
            <a:ext cx="1645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9488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993392" y="749808"/>
            <a:ext cx="1600200" cy="123444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993392" y="7772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DETECT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93392" y="1133856"/>
            <a:ext cx="16002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models: RF + XGBoost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Zero-Day ensemble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93592" y="749808"/>
            <a:ext cx="1645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9488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758184" y="749808"/>
            <a:ext cx="1600200" cy="1234440"/>
          </a:xfrm>
          <a:prstGeom prst="rect">
            <a:avLst/>
          </a:prstGeom>
          <a:solidFill>
            <a:srgbClr val="16A3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58184" y="7772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VERIFY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58184" y="1133856"/>
            <a:ext cx="16002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Trust Check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really you?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58384" y="749808"/>
            <a:ext cx="1645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9488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522976" y="749808"/>
            <a:ext cx="1600200" cy="1234440"/>
          </a:xfrm>
          <a:prstGeom prst="rect">
            <a:avLst/>
          </a:prstGeom>
          <a:solidFill>
            <a:srgbClr val="B45309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22976" y="7772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DECIDE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22976" y="1133856"/>
            <a:ext cx="16002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 /  WATCH  /  THREAT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logic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23176" y="749808"/>
            <a:ext cx="1645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9488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287768" y="749808"/>
            <a:ext cx="1600200" cy="1234440"/>
          </a:xfrm>
          <a:prstGeom prst="rect">
            <a:avLst/>
          </a:prstGeom>
          <a:solidFill>
            <a:srgbClr val="DC2626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287768" y="7772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ALERT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287768" y="1133856"/>
            <a:ext cx="16002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 Telegram message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Live Dashboard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28600" y="21762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Home IoT Devices: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28600" y="2487168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28600" y="254203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📷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228600" y="31821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Camera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28600" y="34564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Watched 24/7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172968" y="2487168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172968" y="254203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🔒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3172968" y="31821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Lock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172968" y="34564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verified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117336" y="2487168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117336" y="254203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📡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6117336" y="31821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117336" y="34564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analyzed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28600" y="221284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All traffic goes through the 5-layer AI pipeline above  ↑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 — Is It You, or the Attacker?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SafeNest Guard  ·  CSE 499B  ·  North South University  ·  Spring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3977640" cy="3108960"/>
          </a:xfrm>
          <a:prstGeom prst="rect">
            <a:avLst/>
          </a:prstGeom>
          <a:solidFill>
            <a:srgbClr val="072B1C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804672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000000"/>
                </a:solidFill>
              </a:rPr>
              <a:t>✅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20040" y="148132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in Melbourne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" y="182880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Accessing from Australia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behavior patterns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timing rhythm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3520440" cy="502920"/>
          </a:xfrm>
          <a:prstGeom prst="rect">
            <a:avLst/>
          </a:prstGeom>
          <a:solidFill>
            <a:srgbClr val="16A3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69748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Score: 0.92 → SAFE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0040" y="324612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is not alerted.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is legitimate.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0624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4937760" y="777240"/>
            <a:ext cx="3977640" cy="3108960"/>
          </a:xfrm>
          <a:prstGeom prst="rect">
            <a:avLst/>
          </a:prstGeom>
          <a:solidFill>
            <a:srgbClr val="2A0A0A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804672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000000"/>
                </a:solidFill>
              </a:rPr>
              <a:t>🔴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5029200" y="148132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 — Same Dhaka ISP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29200" y="182880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country. Same ISP.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behavior pattern.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timing.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120640" y="2697480"/>
            <a:ext cx="3520440" cy="502920"/>
          </a:xfrm>
          <a:prstGeom prst="rect">
            <a:avLst/>
          </a:prstGeom>
          <a:solidFill>
            <a:srgbClr val="DC2626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120640" y="269748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Score: 0.34 → THREAT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0" y="324612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gets Bangla alert.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is blocked.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3886200"/>
            <a:ext cx="9144000" cy="621792"/>
          </a:xfrm>
          <a:prstGeom prst="rect">
            <a:avLst/>
          </a:prstGeom>
          <a:solidFill>
            <a:srgbClr val="0D28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388620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Gap = 0.64  —  No other IDS system in Bangladesh can tell the difference. We can.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Bangla Alerts — MQTT · Telegram · Live Dashboard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SafeNest Guard  ·  CSE 499B  ·  North South University  ·  Spring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3977640" cy="324612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84124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Telegram Alert (Bangla)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11480" y="1225296"/>
            <a:ext cx="3611880" cy="2011680"/>
          </a:xfrm>
          <a:prstGeom prst="rect">
            <a:avLst/>
          </a:prstGeom>
          <a:solidFill>
            <a:srgbClr val="16203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16736"/>
            <a:ext cx="3429000" cy="18288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THREAT সনাক্ত!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ডিভাইস: লিভিং রুম ক্যামেরা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সময়: রাত ১১:৪৩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ট্রাস্ট স্কোর: ০.২৮ (সন্দেহজনক)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এখনই করুন: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১. ক্যামেরার পাওয়ার বন্ধ করুন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২. রাউটার রিস্টার্ট করুন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৩. পাসওয়ার্ড পরিবর্তন করুন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0040" y="3273552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English. No technical knowledge. Just clear steps.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34840" y="777240"/>
            <a:ext cx="4434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80560" y="777240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📡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029200" y="8138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+ HiveMQ Cloud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029200" y="110642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event streaming to any device. Works instantly.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434840" y="1563624"/>
            <a:ext cx="4434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480560" y="1563624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029200" y="1600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029200" y="189280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all 3 devices — SAFE, WATCH, THREAT — in one screen.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434840" y="2350008"/>
            <a:ext cx="4434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480560" y="2350008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029200" y="23865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029200" y="267919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Load-shedding? No internet? Pi keeps monitoring locally.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434840" y="3136392"/>
            <a:ext cx="4434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480560" y="3136392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029200" y="31729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Leaves Home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029200" y="346557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AI runs on Pi. Your traffic never goes to any server.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Results — Numbers That Matter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SafeNest Guard  ·  CSE 499B  ·  North South University  ·  Spring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82296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0.983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28600" y="145389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F1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" y="17647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+ XGBoost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23160" y="777240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23160" y="82296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0.969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2423160" y="145389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Zero-Day AUC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23160" y="17647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+ AE + GRU ensemble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777240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17720" y="82296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&lt;1%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4617720" y="145389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17720" y="17647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legit traffic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12280" y="777240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12280" y="82296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6812280" y="145389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Gap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12280" y="17647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vs Attacker</a:t>
            </a:r>
            <a:endParaRPr lang="en-US" sz="100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228600" y="2194560"/>
          <a:ext cx="530352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Text 20"/>
          <p:cNvSpPr/>
          <p:nvPr/>
        </p:nvSpPr>
        <p:spPr>
          <a:xfrm>
            <a:off x="228600" y="464515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Study — Each component adds value (red = naive zero-day fusion hurts; teal = full system)</a:t>
            </a:r>
            <a:endParaRPr lang="en-US" sz="900" dirty="0"/>
          </a:p>
        </p:txBody>
      </p:sp>
      <p:graphicFrame>
        <p:nvGraphicFramePr>
          <p:cNvPr id="24" name="Chart 1"/>
          <p:cNvGraphicFramePr/>
          <p:nvPr/>
        </p:nvGraphicFramePr>
        <p:xfrm>
          <a:off x="5669280" y="2194560"/>
          <a:ext cx="324612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5" name="Text 21"/>
          <p:cNvSpPr/>
          <p:nvPr/>
        </p:nvSpPr>
        <p:spPr>
          <a:xfrm>
            <a:off x="5669280" y="46451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vs Attacker Trust Score — gap of 0.64 is decisive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— Who Benefits and How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SafeNest Guard  ·  CSE 499B  ·  North South University  ·  Spring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27889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777240"/>
            <a:ext cx="2788920" cy="47548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77724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👨‍👩‍👧  Bangladeshi Families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20040" y="1289304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immediately if someone is watching their camera or accessing their smart lock. Receive alerts in Bangla — no English needed.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91256" y="777240"/>
            <a:ext cx="27889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91256" y="777240"/>
            <a:ext cx="2788920" cy="47548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2" name="Text 10"/>
          <p:cNvSpPr/>
          <p:nvPr/>
        </p:nvSpPr>
        <p:spPr>
          <a:xfrm>
            <a:off x="3282696" y="77724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 Schools &amp; Campuses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282696" y="1289304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multiple IoT devices across buildings. Get instant alerts on unauthorized access. Safe campus, safe students.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53912" y="777240"/>
            <a:ext cx="27889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53912" y="777240"/>
            <a:ext cx="2788920" cy="47548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6" name="Text 14"/>
          <p:cNvSpPr/>
          <p:nvPr/>
        </p:nvSpPr>
        <p:spPr>
          <a:xfrm>
            <a:off x="6245352" y="77724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Garment Factories &amp; Offices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245352" y="1289304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business camera networks and routers. Monitor access remotely. One Pi protects an entire floor.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28600" y="2679192"/>
            <a:ext cx="27889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2679192"/>
            <a:ext cx="2788920" cy="47548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267919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🇧🇩  Bangladesh as a Nation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20040" y="3191256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locally-designed IoT security system. Built for our language, our culture, our infrastructure.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191256" y="2679192"/>
            <a:ext cx="27889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91256" y="2679192"/>
            <a:ext cx="2788920" cy="47548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4" name="Text 22"/>
          <p:cNvSpPr/>
          <p:nvPr/>
        </p:nvSpPr>
        <p:spPr>
          <a:xfrm>
            <a:off x="3282696" y="267919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Environment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282696" y="3191256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3-7 W Raspberry Pi vs 100 W cloud server. Saves 200 kWh per home per year. No e-waste cycle.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53912" y="2679192"/>
            <a:ext cx="27889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53912" y="2679192"/>
            <a:ext cx="2788920" cy="47548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8" name="Text 26"/>
          <p:cNvSpPr/>
          <p:nvPr/>
        </p:nvSpPr>
        <p:spPr>
          <a:xfrm>
            <a:off x="6245352" y="267919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Innovation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245352" y="3191256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IDS globally to encode prayer times, load-shedding, and local ISP patterns as security signals.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— From Home to Market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SafeNest Guard  ·  CSE 499B  ·  North South University  ·  Spring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8686800" cy="640080"/>
          </a:xfrm>
          <a:prstGeom prst="rect">
            <a:avLst/>
          </a:prstGeom>
          <a:solidFill>
            <a:srgbClr val="0D28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7724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Market: 15 million+ unprotected IoT devices in Bangladesh  ·  Currently zero local solutions  ·  Growing 30%/year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572768"/>
            <a:ext cx="2697480" cy="2468880"/>
          </a:xfrm>
          <a:prstGeom prst="rect">
            <a:avLst/>
          </a:prstGeom>
          <a:solidFill>
            <a:srgbClr val="0D2840"/>
          </a:solidFill>
          <a:ln w="12700">
            <a:solidFill>
              <a:srgbClr val="94A3B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572768"/>
            <a:ext cx="2697480" cy="5029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57276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0040" y="2084832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৳0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0040" y="2834640"/>
            <a:ext cx="2697480" cy="113385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monitoring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Bangla alerts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access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46120" y="1572768"/>
            <a:ext cx="2697480" cy="2468880"/>
          </a:xfrm>
          <a:prstGeom prst="rect">
            <a:avLst/>
          </a:prstGeom>
          <a:solidFill>
            <a:srgbClr val="0D2840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572768"/>
            <a:ext cx="269748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3246120" y="157276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Pro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46120" y="2084832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৳299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46120" y="2834640"/>
            <a:ext cx="2697480" cy="113385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alerts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dashboard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alert rules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1572768"/>
            <a:ext cx="2697480" cy="2468880"/>
          </a:xfrm>
          <a:prstGeom prst="rect">
            <a:avLst/>
          </a:prstGeom>
          <a:solidFill>
            <a:srgbClr val="0D2840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1572768"/>
            <a:ext cx="2697480" cy="50292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157276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172200" y="2084832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৳999/mo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172200" y="2834640"/>
            <a:ext cx="2697480" cy="113385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Multi-device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Multi-location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licensing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" y="416052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One-time $50 hardware cost per home — no ongoing hardware fee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Scales from 1 home to a 50-branch garment factory with no extra hardware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Managed installation service for non-technical families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Freemium drives adoption; Pro and Business generate recurring revenue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SafeNest Guard  ·  CSE 499B  ·  North South University  ·  Spring 2026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8915400" y="0"/>
            <a:ext cx="22860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286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Home Is Safe Now.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26771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SafeNest Guard is watching, so you don't have to.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828800" y="2743200"/>
            <a:ext cx="548640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2880360"/>
            <a:ext cx="2057400" cy="384048"/>
          </a:xfrm>
          <a:prstGeom prst="rect">
            <a:avLst/>
          </a:prstGeom>
          <a:solidFill>
            <a:srgbClr val="0D305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8803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0.983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429000" y="2880360"/>
            <a:ext cx="2057400" cy="384048"/>
          </a:xfrm>
          <a:prstGeom prst="rect">
            <a:avLst/>
          </a:prstGeom>
          <a:solidFill>
            <a:srgbClr val="0D305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28803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0.969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760720" y="2880360"/>
            <a:ext cx="2057400" cy="384048"/>
          </a:xfrm>
          <a:prstGeom prst="rect">
            <a:avLst/>
          </a:prstGeom>
          <a:solidFill>
            <a:srgbClr val="0D305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28803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1% False Alarm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97280" y="3383280"/>
            <a:ext cx="2057400" cy="384048"/>
          </a:xfrm>
          <a:prstGeom prst="rect">
            <a:avLst/>
          </a:prstGeom>
          <a:solidFill>
            <a:srgbClr val="0D305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38328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Gap = 0.64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429000" y="3383280"/>
            <a:ext cx="2057400" cy="384048"/>
          </a:xfrm>
          <a:prstGeom prst="rect">
            <a:avLst/>
          </a:prstGeom>
          <a:solidFill>
            <a:srgbClr val="0D305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338328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 Alerts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760720" y="3383280"/>
            <a:ext cx="2057400" cy="384048"/>
          </a:xfrm>
          <a:prstGeom prst="rect">
            <a:avLst/>
          </a:prstGeom>
          <a:solidFill>
            <a:srgbClr val="0D305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338328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 Hardware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977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457200" y="44622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Electrical &amp; Computer Engineering  ·  North South University  ·  NSU ACM SC Innovation Challenge Season 20</a:t>
            </a:r>
            <a:endParaRPr lang="en-US" sz="11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B9A8207-9D01-BAFB-5A03-C296976F4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137" y="699518"/>
            <a:ext cx="1397726" cy="8229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1229</Words>
  <Application>Microsoft Office PowerPoint</Application>
  <PresentationFormat>On-screen Show (16:9)</PresentationFormat>
  <Paragraphs>221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SafeNest Guard</dc:title>
  <dc:subject>PptxGenJS Presentation</dc:subject>
  <dc:creator>NSU ECE Team</dc:creator>
  <cp:lastModifiedBy>KHONDOKAR SAJID</cp:lastModifiedBy>
  <cp:revision>2</cp:revision>
  <dcterms:created xsi:type="dcterms:W3CDTF">2026-04-28T19:27:33Z</dcterms:created>
  <dcterms:modified xsi:type="dcterms:W3CDTF">2026-04-28T19:38:53Z</dcterms:modified>
</cp:coreProperties>
</file>